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0" r:id="rId5"/>
    <p:sldId id="261" r:id="rId6"/>
    <p:sldId id="267" r:id="rId7"/>
    <p:sldId id="268" r:id="rId8"/>
    <p:sldId id="270" r:id="rId9"/>
    <p:sldId id="274" r:id="rId10"/>
    <p:sldId id="275" r:id="rId11"/>
    <p:sldId id="272" r:id="rId12"/>
    <p:sldId id="269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B415"/>
    <a:srgbClr val="0A0A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3" autoAdjust="0"/>
    <p:restoredTop sz="77572" autoAdjust="0"/>
  </p:normalViewPr>
  <p:slideViewPr>
    <p:cSldViewPr snapToGrid="0">
      <p:cViewPr varScale="1">
        <p:scale>
          <a:sx n="64" d="100"/>
          <a:sy n="64" d="100"/>
        </p:scale>
        <p:origin x="84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BF22A-B978-4867-B379-616B646E6981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3A69C2-76E3-4678-9DDD-3DF5A6277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04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3A69C2-76E3-4678-9DDD-3DF5A6277FF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6571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3A69C2-76E3-4678-9DDD-3DF5A6277FF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8571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403CA-CD9A-E88C-5DCF-90B5884F7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A9D87E-2288-8009-1A46-BD251C1453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80628D-114A-88FB-C6BB-94D20A849B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3C7843-046D-F317-AB6D-610228B559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3A69C2-76E3-4678-9DDD-3DF5A6277FF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484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A4D9F-055B-4004-CCA0-D9ABF84B3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BFED82-70B5-62FF-104D-D75828265D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711FD2-27CF-6628-96D5-0FD49B1F09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B4C6D9-84E8-13CA-158B-F16B858C7F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3A69C2-76E3-4678-9DDD-3DF5A6277FF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4997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AF4EF-2CA4-72F4-9839-333329983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D04732-E4A8-C3DC-FF47-DA19853EDC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9E883C-30B8-94F3-E46B-94EA52FDCF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234D4-DD6A-8894-059C-53DC450487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3A69C2-76E3-4678-9DDD-3DF5A6277FF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540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8D3C3-9C24-9EFC-5EC5-93FAF912B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AB583D-C7A1-1E02-5F27-65E2AFC295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D30961-4553-54D7-B202-EBFECB8305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16F48C-65EE-F168-AA06-08131809B0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3A69C2-76E3-4678-9DDD-3DF5A6277FF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5922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2994A-0EEE-39C1-273F-1DDA54686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FFD099-55E3-63C2-9D31-D130DB4BAC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F1107C-4EAF-6C4E-9FE3-528B3813A1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D5DB12-10AC-9C26-CD16-6D586CB3CC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3A69C2-76E3-4678-9DDD-3DF5A6277FF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4704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E8321-150D-A71F-5BAB-9AC6AEDB5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E2A2A6-1DC0-A6F2-11D6-6FFA4D0E98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F84604-1C5F-3C25-67FE-9798CC6BC6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77539A-396B-0D0F-7BA6-858CFF7974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3A69C2-76E3-4678-9DDD-3DF5A6277FF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6076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C2A8D-FF72-7CE3-6C85-A47360A88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C0A2C7-BF56-A4A2-18A8-95588A2F32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97A00F-65CE-95A2-6420-142528658E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319302-97B6-D265-8778-8A76ADDB7F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3A69C2-76E3-4678-9DDD-3DF5A6277FF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4595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3A69C2-76E3-4678-9DDD-3DF5A6277FF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33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36516-D8A2-E45B-85DC-65B79A7423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D68E7E-78B3-63A7-260D-24AF78B5E7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018BC-8CC5-B931-3C26-1DDB841CC2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1440" y="4362658"/>
            <a:ext cx="2743200" cy="365125"/>
          </a:xfrm>
          <a:prstGeom prst="rect">
            <a:avLst/>
          </a:prstGeom>
        </p:spPr>
        <p:txBody>
          <a:bodyPr/>
          <a:lstStyle/>
          <a:p>
            <a:fld id="{C81DC173-2AB8-4D24-B5F0-17CA0FF77485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62F38B-9969-E3D6-51C2-29B736AF5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391CAA-5049-EFEB-0AA5-91B0D760D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2860F-E52A-4619-B805-EA165A2C06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60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6AAFD-F294-8C5A-A4F3-27228B7AF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28CA3-D4EB-9567-FE89-662B9ECD9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255DE-1EBA-BE89-8C48-C70293A84B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1440" y="4362658"/>
            <a:ext cx="2743200" cy="365125"/>
          </a:xfrm>
          <a:prstGeom prst="rect">
            <a:avLst/>
          </a:prstGeom>
        </p:spPr>
        <p:txBody>
          <a:bodyPr/>
          <a:lstStyle/>
          <a:p>
            <a:fld id="{5C077687-541E-4BEB-B273-2E17337323BA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481DF-64A9-300B-224A-43559B517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C62F24-DA01-D3C3-27DE-BD3926A51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2860F-E52A-4619-B805-EA165A2C06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018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F9C1D-8237-4F97-2AA6-C62D5C091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9CF983-E9B1-4EA9-39C3-A8660BD17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90CA0-A0E5-9E83-52BC-1B810F2BA6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1440" y="4362658"/>
            <a:ext cx="2743200" cy="365125"/>
          </a:xfrm>
          <a:prstGeom prst="rect">
            <a:avLst/>
          </a:prstGeom>
        </p:spPr>
        <p:txBody>
          <a:bodyPr/>
          <a:lstStyle/>
          <a:p>
            <a:fld id="{FC7DD01D-93E7-4966-B353-B35944223E8C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FF7243-F255-ACD8-3252-A9BDFE332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F85E7-956E-6094-C904-B62FA6596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2860F-E52A-4619-B805-EA165A2C06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460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97983-CF03-453B-AB33-424E1D9DE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56C80-AC85-6A16-692F-0714B1A3E0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1F7874-86B7-4F42-F71E-1C1BB5801E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FCE294-C63A-3FDE-A3B4-61B3F8B101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1440" y="4362658"/>
            <a:ext cx="2743200" cy="365125"/>
          </a:xfrm>
          <a:prstGeom prst="rect">
            <a:avLst/>
          </a:prstGeom>
        </p:spPr>
        <p:txBody>
          <a:bodyPr/>
          <a:lstStyle/>
          <a:p>
            <a:fld id="{9DB06B95-34E9-4817-8CE9-04B694343E9B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2994D7-AD67-F6F4-B974-B814D4807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B2E8B5-4F65-7B49-CCB5-D91C72CC8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2860F-E52A-4619-B805-EA165A2C06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964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B93F0-1E3E-C363-A7CB-DD7EC8B8F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00ADDE-682A-ACAE-A023-7B42294A2E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CF3BE7-9583-54BC-65C2-ED890C804F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FF1642-B70F-42B1-91D6-7EDB652EB8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A06AE3-9DF3-F4F6-79C6-C98EC6D5CE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48F91E-C82F-91F6-2CC1-84C87C5355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1440" y="4362658"/>
            <a:ext cx="2743200" cy="365125"/>
          </a:xfrm>
          <a:prstGeom prst="rect">
            <a:avLst/>
          </a:prstGeom>
        </p:spPr>
        <p:txBody>
          <a:bodyPr/>
          <a:lstStyle/>
          <a:p>
            <a:fld id="{0939A946-098D-44CB-A64B-F3A340E366CE}" type="datetime1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0EFEB0-0F96-0A70-2AB7-81AAE12CC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C4AD95-240D-D560-02FA-FF6B80BB4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2860F-E52A-4619-B805-EA165A2C06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998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560D3-09FF-1383-63F3-E242BA141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5FF675-7D7B-A39F-CC1A-2FFDD8379D3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1440" y="4362658"/>
            <a:ext cx="2743200" cy="365125"/>
          </a:xfrm>
          <a:prstGeom prst="rect">
            <a:avLst/>
          </a:prstGeom>
        </p:spPr>
        <p:txBody>
          <a:bodyPr/>
          <a:lstStyle/>
          <a:p>
            <a:fld id="{F5A29CCE-DE00-4292-8D60-95C6AE393E16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A6FDC6-37C4-7396-1A19-1D3B532C3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31573A-79CD-6369-64F0-B079A3851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2860F-E52A-4619-B805-EA165A2C06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452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6B5183-16E6-FCA8-48B0-CCA1902B35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1440" y="4362658"/>
            <a:ext cx="2743200" cy="365125"/>
          </a:xfrm>
          <a:prstGeom prst="rect">
            <a:avLst/>
          </a:prstGeom>
        </p:spPr>
        <p:txBody>
          <a:bodyPr/>
          <a:lstStyle/>
          <a:p>
            <a:fld id="{664B8D79-7CBE-4D0F-A746-6DAC72010136}" type="datetime1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6E0543-0CDA-9595-9FDC-CCC10CE64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4318E0-2522-277F-F678-279FA3E36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2860F-E52A-4619-B805-EA165A2C06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123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A8E98-B566-602E-4A0B-325732C93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7D2C6-7DF0-34A7-15B3-3D17B3C62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F6646B-E1F0-F963-A33F-C894D20B9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B0196F-C352-B640-2513-FB45673E62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1440" y="4362658"/>
            <a:ext cx="2743200" cy="365125"/>
          </a:xfrm>
          <a:prstGeom prst="rect">
            <a:avLst/>
          </a:prstGeom>
        </p:spPr>
        <p:txBody>
          <a:bodyPr/>
          <a:lstStyle/>
          <a:p>
            <a:fld id="{AE38F8DD-2100-4F23-A623-A2DA2FE1EAF7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A40CEB-6476-91BD-FADA-E68B25C55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EC74A5-7B49-6673-A6D3-9D2515270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2860F-E52A-4619-B805-EA165A2C06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229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4F507-1445-955C-A17A-D363CEE82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4D3945-A1CF-1E10-E14F-01C8F49848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1BC3AD-DF3F-512A-F90A-94833B4EE4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EBB5C9-26A2-7AB5-BAD1-4A2D376257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1440" y="4362658"/>
            <a:ext cx="2743200" cy="365125"/>
          </a:xfrm>
          <a:prstGeom prst="rect">
            <a:avLst/>
          </a:prstGeom>
        </p:spPr>
        <p:txBody>
          <a:bodyPr/>
          <a:lstStyle/>
          <a:p>
            <a:fld id="{80F98D89-B45D-4B1D-A688-093BB6938ED9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45591D-0AC4-78DC-3434-0C65FD518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B323C4-E6F8-23D2-A676-CB40A1208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2860F-E52A-4619-B805-EA165A2C06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455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0BD46-EDB1-F4F8-DBC1-3B6370EFE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EA45B9-27D2-24CB-7226-12AB95BDE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79D855-3BE5-F24F-486D-2D31050222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1440" y="4362658"/>
            <a:ext cx="2743200" cy="365125"/>
          </a:xfrm>
          <a:prstGeom prst="rect">
            <a:avLst/>
          </a:prstGeom>
        </p:spPr>
        <p:txBody>
          <a:bodyPr/>
          <a:lstStyle/>
          <a:p>
            <a:fld id="{6D5F4FA5-1965-4525-965B-9BCC085ED888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0569B1-5C58-0B2A-BA69-583671BA6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0C69C-5F06-46E1-A4DD-AE1D5F4F9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2860F-E52A-4619-B805-EA165A2C06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631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E3BFE8-C084-0B08-22BF-7B4DEA5D8D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5B0EEC-45C3-3A33-BB82-7AC35D6124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3E3A1-D13E-339E-B625-1764D377F8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1440" y="4362658"/>
            <a:ext cx="2743200" cy="365125"/>
          </a:xfrm>
          <a:prstGeom prst="rect">
            <a:avLst/>
          </a:prstGeom>
        </p:spPr>
        <p:txBody>
          <a:bodyPr/>
          <a:lstStyle/>
          <a:p>
            <a:fld id="{EA2E4344-4932-4A23-91D6-CBBD3DD20516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5B2FC7-C943-1CE6-EB0F-7EAA2E026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8DE2E-0D94-977F-BA4C-DFE56FF48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2860F-E52A-4619-B805-EA165A2C06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47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091DE4-DE28-C386-5C33-D16B575D8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5C96D6-E69F-76B2-7A1B-3B173FA15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DEAB6-E0F1-5614-7D72-595653CD6D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227B3-425A-826B-5C2C-F3F2F406E2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82860F-E52A-4619-B805-EA165A2C06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036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AkD2KIRTfIUj1XUDlbkfthTKK1Al7yK-/view?usp=sharing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github.com/MarineMaaan/ITAI-1378-Midterm_FruitFreshnessTimer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F8446B12-7391-4711-8B31-112A0B896C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541EC5-118E-00B6-AA4C-030DDA1D6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2900" y="4428000"/>
            <a:ext cx="7067549" cy="1400400"/>
          </a:xfrm>
        </p:spPr>
        <p:txBody>
          <a:bodyPr wrap="square" anchor="b">
            <a:normAutofit fontScale="90000"/>
          </a:bodyPr>
          <a:lstStyle/>
          <a:p>
            <a:pPr algn="l"/>
            <a:r>
              <a:rPr lang="en-US" sz="4300" b="1" dirty="0">
                <a:solidFill>
                  <a:srgbClr val="FEB4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Fruit Freshness Analyzer</a:t>
            </a:r>
            <a:br>
              <a:rPr lang="en-US" sz="4300" b="1" dirty="0">
                <a:solidFill>
                  <a:srgbClr val="FEB4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300" dirty="0">
                <a:solidFill>
                  <a:srgbClr val="FEB4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Tier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5C7B12-298B-C6A5-FA1E-9C4D1F55A6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59713" y="4716472"/>
            <a:ext cx="3494088" cy="1017896"/>
          </a:xfrm>
        </p:spPr>
        <p:txBody>
          <a:bodyPr anchor="b">
            <a:normAutofit/>
          </a:bodyPr>
          <a:lstStyle/>
          <a:p>
            <a:pPr algn="l"/>
            <a:r>
              <a:rPr lang="en-US" dirty="0">
                <a:solidFill>
                  <a:srgbClr val="FEB4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Benjamin LaCount II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7DA08B6-0659-95F9-174C-B900D67CDB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86" r="18837" b="-1"/>
          <a:stretch>
            <a:fillRect/>
          </a:stretch>
        </p:blipFill>
        <p:spPr bwMode="auto">
          <a:xfrm>
            <a:off x="20" y="-1"/>
            <a:ext cx="12191980" cy="3984912"/>
          </a:xfrm>
          <a:custGeom>
            <a:avLst/>
            <a:gdLst/>
            <a:ahLst/>
            <a:cxnLst/>
            <a:rect l="l" t="t" r="r" b="b"/>
            <a:pathLst>
              <a:path w="12192000" h="3984912">
                <a:moveTo>
                  <a:pt x="0" y="0"/>
                </a:moveTo>
                <a:lnTo>
                  <a:pt x="12192000" y="0"/>
                </a:lnTo>
                <a:lnTo>
                  <a:pt x="12192000" y="566059"/>
                </a:lnTo>
                <a:lnTo>
                  <a:pt x="12192000" y="794037"/>
                </a:lnTo>
                <a:lnTo>
                  <a:pt x="12192000" y="2336800"/>
                </a:lnTo>
                <a:lnTo>
                  <a:pt x="12192000" y="2631227"/>
                </a:lnTo>
                <a:lnTo>
                  <a:pt x="12192000" y="3908712"/>
                </a:lnTo>
                <a:lnTo>
                  <a:pt x="9439275" y="3984912"/>
                </a:lnTo>
                <a:lnTo>
                  <a:pt x="5572127" y="3737262"/>
                </a:lnTo>
                <a:lnTo>
                  <a:pt x="0" y="3908712"/>
                </a:lnTo>
                <a:lnTo>
                  <a:pt x="0" y="2631227"/>
                </a:lnTo>
                <a:lnTo>
                  <a:pt x="0" y="2336800"/>
                </a:lnTo>
                <a:lnTo>
                  <a:pt x="0" y="794037"/>
                </a:lnTo>
                <a:lnTo>
                  <a:pt x="0" y="566059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3" name="Group 1032">
            <a:extLst>
              <a:ext uri="{FF2B5EF4-FFF2-40B4-BE49-F238E27FC236}">
                <a16:creationId xmlns:a16="http://schemas.microsoft.com/office/drawing/2014/main" id="{AC0B7807-0C83-4963-821A-69B172722E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528992"/>
            <a:ext cx="12192000" cy="757168"/>
            <a:chOff x="0" y="2959818"/>
            <a:chExt cx="12192000" cy="757168"/>
          </a:xfrm>
        </p:grpSpPr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BB027EC7-3252-48A2-A7A4-1741F72E47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4EBC51E4-7477-4290-BBD0-18AD942C3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3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79491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91C5F-8417-D157-16B9-F7A44737D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CCE39-B700-4DF3-B29A-07C162B7B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b="1" dirty="0"/>
              <a:t>What real-world problem are you solving?</a:t>
            </a:r>
          </a:p>
          <a:p>
            <a:pPr lvl="1"/>
            <a:r>
              <a:rPr lang="en-US" dirty="0"/>
              <a:t>A large portion of fresh fruit in US homes spoils before being eaten, making it a top source of household food waste.</a:t>
            </a:r>
          </a:p>
          <a:p>
            <a:pPr lvl="0"/>
            <a:r>
              <a:rPr lang="en-US" b="1" dirty="0"/>
              <a:t>Who cares about this problem?</a:t>
            </a:r>
          </a:p>
          <a:p>
            <a:pPr lvl="1"/>
            <a:r>
              <a:rPr lang="en-US" dirty="0"/>
              <a:t>Consumers (households) who lose money, and anyone concerned with food waste and its environmental impact.</a:t>
            </a:r>
          </a:p>
          <a:p>
            <a:pPr lvl="0"/>
            <a:r>
              <a:rPr lang="en-US" b="1" dirty="0"/>
              <a:t>Why is it important?</a:t>
            </a:r>
          </a:p>
          <a:p>
            <a:pPr lvl="1"/>
            <a:r>
              <a:rPr lang="en-US" dirty="0"/>
              <a:t>This wastes billions of dollars annually, costs families money, and contributes significantly to food in landfills.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051CDD-3C66-F930-C236-B6CC77B22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2860F-E52A-4619-B805-EA165A2C06E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185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EE884-03B8-02CC-75D6-721FA66CF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013FE-C8A6-A8B4-5BA4-0602609F5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A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BD15E-2BC1-D676-F9C8-461DED3AC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b="1" dirty="0"/>
              <a:t>What will your system do?</a:t>
            </a:r>
          </a:p>
          <a:p>
            <a:pPr lvl="1"/>
            <a:r>
              <a:rPr lang="en-US" dirty="0"/>
              <a:t>It will analyze a photo of a fruit and estimate the number of days remaining before it spoils.</a:t>
            </a:r>
          </a:p>
          <a:p>
            <a:pPr lvl="0"/>
            <a:r>
              <a:rPr lang="en-US" b="1" dirty="0"/>
              <a:t>How will it solve the problem?</a:t>
            </a:r>
          </a:p>
          <a:p>
            <a:pPr lvl="1"/>
            <a:r>
              <a:rPr lang="en-US" dirty="0"/>
              <a:t>It gives consumers a clear, actionable "use by" timeline and provides smart storage tips (like the banana skin turning black in the fridge) to help them prioritize and consume fruit before it goes bad.</a:t>
            </a:r>
          </a:p>
          <a:p>
            <a:pPr lvl="0"/>
            <a:r>
              <a:rPr lang="en-US" b="1" dirty="0"/>
              <a:t>One sentence description:</a:t>
            </a:r>
          </a:p>
          <a:p>
            <a:pPr lvl="1"/>
            <a:r>
              <a:rPr lang="en-US" dirty="0"/>
              <a:t>A computer vision tool that predicts a fruit's remaining shelf-life and provides storage tips from a single photo and whether the fruit is stored in the pantry or a fridge.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BA24C5-DEF5-8775-B0FF-4BE2DF5CD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2860F-E52A-4619-B805-EA165A2C06E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550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0D8A6-1ABE-CF4B-E397-63D394A90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Technical Approach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B812F-5112-2DE9-8647-460E557E59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US" b="1" dirty="0"/>
              <a:t>CV Technique:</a:t>
            </a:r>
            <a:r>
              <a:rPr lang="en-US" dirty="0"/>
              <a:t> Image Classification</a:t>
            </a:r>
          </a:p>
          <a:p>
            <a:pPr lvl="0"/>
            <a:r>
              <a:rPr lang="en-US" b="1" dirty="0"/>
              <a:t>Model:</a:t>
            </a:r>
            <a:r>
              <a:rPr lang="en-US" dirty="0"/>
              <a:t> ResNet50 (pre-trained on ImageNet)</a:t>
            </a:r>
          </a:p>
          <a:p>
            <a:pPr lvl="0"/>
            <a:r>
              <a:rPr lang="en-US" b="1" dirty="0"/>
              <a:t>Framework:</a:t>
            </a:r>
            <a:r>
              <a:rPr lang="en-US" dirty="0"/>
              <a:t> </a:t>
            </a:r>
            <a:r>
              <a:rPr lang="en-US" dirty="0" err="1"/>
              <a:t>PyTorch</a:t>
            </a:r>
            <a:endParaRPr lang="en-US" dirty="0"/>
          </a:p>
          <a:p>
            <a:pPr lvl="0"/>
            <a:r>
              <a:rPr lang="en-US" b="1" dirty="0"/>
              <a:t>Why this approach?</a:t>
            </a:r>
          </a:p>
          <a:p>
            <a:pPr marL="0" indent="0">
              <a:buNone/>
            </a:pPr>
            <a:r>
              <a:rPr lang="en-US" dirty="0"/>
              <a:t>ResNet50 is a powerful, proven architecture for classification. Using a pre-trained model (transfer learning) will help us achieve high accuracy on our specialized fruit dataset quickly.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D9B73B-0B11-3C17-D5D9-76407413E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2860F-E52A-4619-B805-EA165A2C06E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056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6680-AA5C-8ADB-58A9-51ADB93CF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2899E-E339-FBF4-CDDE-C98AB5A12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Dataset &amp;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80AFB-FECD-CE75-32DB-C7DF41A389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b="1" dirty="0"/>
              <a:t>CV Model Training Data (</a:t>
            </a:r>
            <a:r>
              <a:rPr lang="en-US" b="1" dirty="0" err="1"/>
              <a:t>FruitVision</a:t>
            </a:r>
            <a:r>
              <a:rPr lang="en-US" b="1" dirty="0"/>
              <a:t>):</a:t>
            </a:r>
            <a:endParaRPr lang="en-US" dirty="0"/>
          </a:p>
          <a:p>
            <a:pPr lvl="1"/>
            <a:r>
              <a:rPr lang="en-US" b="1" dirty="0"/>
              <a:t>Source:</a:t>
            </a:r>
            <a:r>
              <a:rPr lang="en-US" dirty="0"/>
              <a:t> A public dataset: "</a:t>
            </a:r>
            <a:r>
              <a:rPr lang="en-US" dirty="0" err="1"/>
              <a:t>FruitVision</a:t>
            </a:r>
            <a:r>
              <a:rPr lang="en-US" dirty="0"/>
              <a:t>" hosted on Mendeley Data.</a:t>
            </a:r>
          </a:p>
          <a:p>
            <a:pPr lvl="1"/>
            <a:r>
              <a:rPr lang="en-US" b="1" dirty="0"/>
              <a:t>Size:</a:t>
            </a:r>
            <a:r>
              <a:rPr lang="en-US" dirty="0"/>
              <a:t> 81,000+ augmented images of 5 different fruit types.</a:t>
            </a:r>
          </a:p>
          <a:p>
            <a:pPr lvl="1"/>
            <a:r>
              <a:rPr lang="en-US" b="1" dirty="0"/>
              <a:t>Labels:</a:t>
            </a:r>
            <a:r>
              <a:rPr lang="en-US" dirty="0"/>
              <a:t> "Fresh," "Rotten," and “Formalin-Infused” (pre-labeled).</a:t>
            </a:r>
          </a:p>
          <a:p>
            <a:pPr lvl="0"/>
            <a:r>
              <a:rPr lang="en-US" b="1" dirty="0"/>
              <a:t>Spoilage Timeline Data (</a:t>
            </a:r>
            <a:r>
              <a:rPr lang="en-US" b="1" dirty="0" err="1"/>
              <a:t>FoodKeeper</a:t>
            </a:r>
            <a:r>
              <a:rPr lang="en-US" b="1" dirty="0"/>
              <a:t>):</a:t>
            </a:r>
            <a:endParaRPr lang="en-US" dirty="0"/>
          </a:p>
          <a:p>
            <a:pPr lvl="1"/>
            <a:r>
              <a:rPr lang="en-US" b="1" dirty="0"/>
              <a:t>Source:</a:t>
            </a:r>
            <a:r>
              <a:rPr lang="en-US" dirty="0"/>
              <a:t> USDA "</a:t>
            </a:r>
            <a:r>
              <a:rPr lang="en-US" dirty="0" err="1"/>
              <a:t>FoodKeeper</a:t>
            </a:r>
            <a:r>
              <a:rPr lang="en-US" dirty="0"/>
              <a:t>" Dataset (data.gov).</a:t>
            </a:r>
          </a:p>
          <a:p>
            <a:pPr lvl="1"/>
            <a:r>
              <a:rPr lang="en-US" b="1" dirty="0"/>
              <a:t>Usage:</a:t>
            </a:r>
            <a:r>
              <a:rPr lang="en-US" dirty="0"/>
              <a:t> Provides the ground-truth spoilage timelines (e.g., "Apples: 1-2 months refrigerated"), keyword maps, and contextual storage tips.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F51437-3BB4-0D7F-0F59-2B27E9DD4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2860F-E52A-4619-B805-EA165A2C06E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502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2C5CF-0C7E-D477-DFEA-E9936B6E6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81EA7-BBF7-5455-3B2B-3249F5695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Live Demonstration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0D5CE-775F-8ADF-B5BD-03CCB78587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b="1" dirty="0"/>
              <a:t>Live Demonstration Video Link: </a:t>
            </a:r>
            <a:r>
              <a:rPr lang="en-US" dirty="0">
                <a:hlinkClick r:id="rId3"/>
              </a:rPr>
              <a:t>https://drive.google.com/file/d/1AkD2KIRTfIUj1XUDlbkfthTKK1Al7yK-/view?usp=sharing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b="1" dirty="0"/>
              <a:t>GitHub Repository Link: </a:t>
            </a:r>
            <a:r>
              <a:rPr lang="en-US" dirty="0">
                <a:hlinkClick r:id="rId4"/>
              </a:rPr>
              <a:t>https://github.com/MarineMaaan/ITAI-1378-Midterm_FruitFreshnessTimer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1A1D03-2076-8EA9-39BE-8BF726E50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2860F-E52A-4619-B805-EA165A2C06E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580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07122-AB16-8C7C-9CCF-F23CD6152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780A9-4B1C-80EF-4D75-C7B132A03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Results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AB8A8-30CC-4C65-A405-1452B7061C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lvl="0"/>
            <a:r>
              <a:rPr lang="en-US" b="1" dirty="0"/>
              <a:t>Primary Metric:</a:t>
            </a:r>
            <a:r>
              <a:rPr lang="en-US" dirty="0"/>
              <a:t> Classification Accuracy (correctly identifying "fresh" vs. "rotten").</a:t>
            </a:r>
          </a:p>
          <a:p>
            <a:pPr lvl="1"/>
            <a:r>
              <a:rPr lang="en-US" b="1" dirty="0"/>
              <a:t>Target:</a:t>
            </a:r>
            <a:r>
              <a:rPr lang="en-US" dirty="0"/>
              <a:t> 85-90% accuracy on the test dataset.</a:t>
            </a:r>
          </a:p>
          <a:p>
            <a:pPr lvl="1"/>
            <a:r>
              <a:rPr lang="en-US" b="1" dirty="0"/>
              <a:t>Result:</a:t>
            </a:r>
            <a:r>
              <a:rPr lang="en-US" dirty="0"/>
              <a:t> &gt;98% accuracy on the test dataset.</a:t>
            </a:r>
          </a:p>
          <a:p>
            <a:pPr lvl="1"/>
            <a:endParaRPr lang="en-US" dirty="0"/>
          </a:p>
          <a:p>
            <a:pPr lvl="0"/>
            <a:r>
              <a:rPr lang="en-US" b="1" dirty="0"/>
              <a:t>Secondary Metrics:</a:t>
            </a:r>
            <a:r>
              <a:rPr lang="en-US" dirty="0"/>
              <a:t> Inference speed (processing time per image).</a:t>
            </a:r>
          </a:p>
          <a:p>
            <a:pPr lvl="1"/>
            <a:r>
              <a:rPr lang="en-US" b="1" dirty="0"/>
              <a:t>Target: </a:t>
            </a:r>
            <a:r>
              <a:rPr lang="en-US" dirty="0"/>
              <a:t>&lt;1 second inference time.</a:t>
            </a:r>
          </a:p>
          <a:p>
            <a:pPr lvl="1"/>
            <a:r>
              <a:rPr lang="en-US" b="1" dirty="0"/>
              <a:t>Result:</a:t>
            </a:r>
            <a:r>
              <a:rPr lang="en-US" dirty="0"/>
              <a:t> &lt;1 second inference time.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CC4950-4160-DC06-80D3-BD4F0EAA7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2860F-E52A-4619-B805-EA165A2C06E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329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098C5-4801-7922-BB38-A275A5A10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2AD4B8-8C6F-2D6A-F748-F0C50061E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2860F-E52A-4619-B805-EA165A2C06EE}" type="slidenum">
              <a:rPr lang="en-US" smtClean="0"/>
              <a:t>8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11DD040-36FA-AC22-FD7E-8BA989BA2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766" y="406029"/>
            <a:ext cx="10998468" cy="6045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2168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2A03E-2CD0-97CD-FED8-2DC160936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420B8C-A06A-7589-B397-FED18CAD1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2860F-E52A-4619-B805-EA165A2C06EE}" type="slidenum">
              <a:rPr lang="en-US" smtClean="0"/>
              <a:t>9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32B753-CC8F-8289-2AF8-BEEEAD743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766" y="406028"/>
            <a:ext cx="10925802" cy="5950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9012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985AD-4C05-B3FC-3C71-6B8ADB7DD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51D453-1E74-8702-B88C-D0EB85CCA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2860F-E52A-4619-B805-EA165A2C06EE}" type="slidenum">
              <a:rPr lang="en-US" smtClean="0"/>
              <a:t>10</a:t>
            </a:fld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1F84C1E-9887-90BA-BF89-2A01C7DF69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099" y="657008"/>
            <a:ext cx="10925802" cy="5543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6941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F59F3-A780-0B1E-AFF7-B16FD1204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F2D73D-8796-5A23-6E23-53EBC05C0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2860F-E52A-4619-B805-EA165A2C06EE}" type="slidenum">
              <a:rPr lang="en-US" smtClean="0"/>
              <a:t>11</a:t>
            </a:fld>
            <a:endParaRPr lang="en-US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E4BCC3EC-60BA-6B0C-CFEE-79394CBB89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098" y="657008"/>
            <a:ext cx="10925801" cy="5681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87200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3C7BD-BD82-0343-A1F3-4ED973391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B85D5-F75E-E961-78FB-A5D1BE9F0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Key Learnings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264BE-034C-6A34-48DC-F5A4780F81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Using a pre-trained model and transfer learning helped achieve high accuracy on our specialized fruit dataset quickly.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Using a pre-trained model, however, still doesn’t guarantee acceptable results “out-of-the-box”.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Additionally, I also became familiar with </a:t>
            </a:r>
            <a:r>
              <a:rPr lang="en-US" dirty="0" err="1"/>
              <a:t>Gradio</a:t>
            </a:r>
            <a:r>
              <a:rPr lang="en-US" dirty="0"/>
              <a:t> and </a:t>
            </a:r>
            <a:r>
              <a:rPr lang="en-US" dirty="0" err="1"/>
              <a:t>Streamlit</a:t>
            </a:r>
            <a:r>
              <a:rPr lang="en-US" dirty="0"/>
              <a:t> throughout the execution of this project.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47895C-863E-0AB1-B503-45DF640FD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2860F-E52A-4619-B805-EA165A2C06E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0533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254A6-DC98-DC9D-711C-F4302D69C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4F13A-B912-0989-A0BB-B3BCA0D80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D68EA-8B72-BAFE-E085-153106E200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>I would expand the options of fruits as much as possible from the five we are limited to today.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Additionally, I would seek a larger dataset that contains images of fruits in different settings, instead of just a plain background.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20F43E-F688-CB4E-0794-056C1F283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2860F-E52A-4619-B805-EA165A2C06E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452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3E623-2E43-9573-4319-D0772709A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7DD5E-1E0B-FC9C-3BE1-7D3824DFF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Acknowledgements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231BF-B21E-8F09-21C3-B8AF05FB8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>Thank you, Professor, my awesome team, and the AI tools I used throughout this project to assist in development.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CBFA8-EF6A-A90C-CBA4-42DAD3E55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2860F-E52A-4619-B805-EA165A2C06EE}" type="slidenum">
              <a:rPr lang="en-US" smtClean="0"/>
              <a:t>14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7096136-ABFF-EEC7-BD0E-C41BE89F593B}"/>
              </a:ext>
            </a:extLst>
          </p:cNvPr>
          <p:cNvSpPr txBox="1">
            <a:spLocks/>
          </p:cNvSpPr>
          <p:nvPr/>
        </p:nvSpPr>
        <p:spPr>
          <a:xfrm>
            <a:off x="838200" y="400129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accent1"/>
                </a:solidFill>
              </a:rPr>
              <a:t>THANK YOU! Questions?</a:t>
            </a:r>
          </a:p>
        </p:txBody>
      </p:sp>
    </p:spTree>
    <p:extLst>
      <p:ext uri="{BB962C8B-B14F-4D97-AF65-F5344CB8AC3E}">
        <p14:creationId xmlns:p14="http://schemas.microsoft.com/office/powerpoint/2010/main" val="2024425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HCC Dark">
      <a:dk1>
        <a:srgbClr val="3C3C3C"/>
      </a:dk1>
      <a:lt1>
        <a:sysClr val="window" lastClr="FFFFFF"/>
      </a:lt1>
      <a:dk2>
        <a:srgbClr val="0E2841"/>
      </a:dk2>
      <a:lt2>
        <a:srgbClr val="E8E8E8"/>
      </a:lt2>
      <a:accent1>
        <a:srgbClr val="FFC000"/>
      </a:accent1>
      <a:accent2>
        <a:srgbClr val="000000"/>
      </a:accent2>
      <a:accent3>
        <a:srgbClr val="595959"/>
      </a:accent3>
      <a:accent4>
        <a:srgbClr val="FFFFFF"/>
      </a:accent4>
      <a:accent5>
        <a:srgbClr val="4D94D8"/>
      </a:accent5>
      <a:accent6>
        <a:srgbClr val="F2F2F2"/>
      </a:accent6>
      <a:hlink>
        <a:srgbClr val="4D94D8"/>
      </a:hlink>
      <a:folHlink>
        <a:srgbClr val="96607D"/>
      </a:folHlink>
    </a:clrScheme>
    <a:fontScheme name="HCC">
      <a:majorFont>
        <a:latin typeface="Gotham Black"/>
        <a:ea typeface=""/>
        <a:cs typeface=""/>
      </a:majorFont>
      <a:minorFont>
        <a:latin typeface="Gotha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605</Words>
  <Application>Microsoft Office PowerPoint</Application>
  <PresentationFormat>Widescreen</PresentationFormat>
  <Paragraphs>79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Gotham</vt:lpstr>
      <vt:lpstr>Gotham Black</vt:lpstr>
      <vt:lpstr>Office Theme</vt:lpstr>
      <vt:lpstr>Fruit Freshness Analyzer Tier 1</vt:lpstr>
      <vt:lpstr>The Problem</vt:lpstr>
      <vt:lpstr>A Solution</vt:lpstr>
      <vt:lpstr>Technical Approach</vt:lpstr>
      <vt:lpstr>Dataset &amp; Preprocessing</vt:lpstr>
      <vt:lpstr>Live Demonstration</vt:lpstr>
      <vt:lpstr>Results</vt:lpstr>
      <vt:lpstr>PowerPoint Presentation</vt:lpstr>
      <vt:lpstr>PowerPoint Presentation</vt:lpstr>
      <vt:lpstr>PowerPoint Presentation</vt:lpstr>
      <vt:lpstr>PowerPoint Presentation</vt:lpstr>
      <vt:lpstr>Key Learnings</vt:lpstr>
      <vt:lpstr>Future Work</vt:lpstr>
      <vt:lpstr>Acknowledgements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Lacount II, Benjamin</dc:creator>
  <cp:lastModifiedBy>Lacount II, Benjamin</cp:lastModifiedBy>
  <cp:revision>5</cp:revision>
  <dcterms:created xsi:type="dcterms:W3CDTF">2025-09-05T23:51:15Z</dcterms:created>
  <dcterms:modified xsi:type="dcterms:W3CDTF">2025-12-03T22:54:42Z</dcterms:modified>
</cp:coreProperties>
</file>